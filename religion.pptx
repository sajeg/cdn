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</p:sld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B629CC-3708-4C7E-9AD8-DF716647DC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1677F42-D0D1-48A4-B025-75BF2564BA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533EB9E-CD7C-4224-9E0D-1762A0E646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549E86D-FD51-49B7-9CAD-B6E2094427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41C04CE-92B6-47CF-AE02-B5D95689EC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Midnightblu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F1FB480-B280-41FD-B005-0041A35DD1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8B37981-D6D7-411F-B7CE-2BF744C44D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C4BE15E-F272-4817-8AAC-2DFBCDCB54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4E51974-861C-4051-82C2-52B3D7C1FD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de-DE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de-DE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43F1DAD-BD83-4471-9594-E28D24D8AC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79280" cy="269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79280" cy="1214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9315000" y="5175000"/>
            <a:ext cx="449280" cy="44928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1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&lt;footer&gt;</a:t>
            </a:r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2"/>
          </p:nvPr>
        </p:nvSpPr>
        <p:spPr>
          <a:xfrm>
            <a:off x="9180000" y="5175000"/>
            <a:ext cx="719280" cy="44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4E65C82-00E4-45E0-B9A7-ABBAD87FC505}" type="slidenum"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&lt;number&gt;</a:t>
            </a:fld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dt" idx="3"/>
          </p:nvPr>
        </p:nvSpPr>
        <p:spPr>
          <a:xfrm>
            <a:off x="360000" y="5400000"/>
            <a:ext cx="287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de-DE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10079280" cy="377928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4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&lt;footer&gt;</a:t>
            </a:r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5"/>
          </p:nvPr>
        </p:nvSpPr>
        <p:spPr>
          <a:xfrm>
            <a:off x="9180000" y="5130000"/>
            <a:ext cx="719280" cy="53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4EC4094-7DE6-41F4-94D0-A9D5403A41A3}" type="slidenum"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&lt;number&gt;</a:t>
            </a:fld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6"/>
          </p:nvPr>
        </p:nvSpPr>
        <p:spPr>
          <a:xfrm>
            <a:off x="360000" y="5400000"/>
            <a:ext cx="287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de-DE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10079280" cy="3779280"/>
          </a:xfrm>
          <a:prstGeom prst="rect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7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 </a:t>
            </a:r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8"/>
          </p:nvPr>
        </p:nvSpPr>
        <p:spPr>
          <a:xfrm>
            <a:off x="9180000" y="5130000"/>
            <a:ext cx="719280" cy="53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560D09A-8665-44C9-8541-C3CA48C6BA9F}" type="slidenum"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1</a:t>
            </a:fld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9"/>
          </p:nvPr>
        </p:nvSpPr>
        <p:spPr>
          <a:xfrm>
            <a:off x="360000" y="5400000"/>
            <a:ext cx="287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de-DE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de-DE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de-DE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de-DE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de-DE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de-DE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29" name=""/>
          <p:cNvSpPr/>
          <p:nvPr/>
        </p:nvSpPr>
        <p:spPr>
          <a:xfrm>
            <a:off x="2520000" y="1350000"/>
            <a:ext cx="5039280" cy="188928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ftr" idx="10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&lt;footer&gt;</a:t>
            </a:r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1"/>
          </p:nvPr>
        </p:nvSpPr>
        <p:spPr>
          <a:xfrm>
            <a:off x="9180000" y="5130000"/>
            <a:ext cx="719280" cy="53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B4A3DF2-54C4-418F-A84A-271716650EC9}" type="slidenum"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&lt;number&gt;</a:t>
            </a:fld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dt" idx="12"/>
          </p:nvPr>
        </p:nvSpPr>
        <p:spPr>
          <a:xfrm>
            <a:off x="360000" y="5400000"/>
            <a:ext cx="287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de-DE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solidFill>
            <a:srgbClr val="2c3e50"/>
          </a:solidFill>
          <a:ln w="108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38" name=""/>
          <p:cNvSpPr/>
          <p:nvPr/>
        </p:nvSpPr>
        <p:spPr>
          <a:xfrm>
            <a:off x="2520000" y="1350000"/>
            <a:ext cx="5039280" cy="188928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 algn="ctr"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13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 </a:t>
            </a:r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14"/>
          </p:nvPr>
        </p:nvSpPr>
        <p:spPr>
          <a:xfrm>
            <a:off x="9180000" y="5130000"/>
            <a:ext cx="719280" cy="53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1636512-5999-496D-8A3B-584E355FC7F3}" type="slidenum"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1</a:t>
            </a:fld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5"/>
          </p:nvPr>
        </p:nvSpPr>
        <p:spPr>
          <a:xfrm>
            <a:off x="360000" y="5400000"/>
            <a:ext cx="287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>
            <a:off x="0" y="5400000"/>
            <a:ext cx="10079280" cy="269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0079280" cy="1214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46" name=""/>
          <p:cNvSpPr/>
          <p:nvPr/>
        </p:nvSpPr>
        <p:spPr>
          <a:xfrm>
            <a:off x="9315000" y="5175000"/>
            <a:ext cx="449280" cy="44928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16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 </a:t>
            </a:r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7"/>
          </p:nvPr>
        </p:nvSpPr>
        <p:spPr>
          <a:xfrm>
            <a:off x="9180000" y="5175000"/>
            <a:ext cx="719280" cy="44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17B4D19-D372-48B7-BBFA-2B827341D9BF}" type="slidenum"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1</a:t>
            </a:fld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18"/>
          </p:nvPr>
        </p:nvSpPr>
        <p:spPr>
          <a:xfrm>
            <a:off x="360000" y="5400000"/>
            <a:ext cx="287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5400000"/>
            <a:ext cx="10079280" cy="269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10079280" cy="1214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54" name=""/>
          <p:cNvSpPr/>
          <p:nvPr/>
        </p:nvSpPr>
        <p:spPr>
          <a:xfrm>
            <a:off x="9315000" y="5175000"/>
            <a:ext cx="449280" cy="44928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ftr" idx="19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 </a:t>
            </a:r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20"/>
          </p:nvPr>
        </p:nvSpPr>
        <p:spPr>
          <a:xfrm>
            <a:off x="9180000" y="5175000"/>
            <a:ext cx="719280" cy="44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7DFDD33-CBB1-4F92-BB1B-7C915A5C8361}" type="slidenum"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1</a:t>
            </a:fld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1"/>
          </p:nvPr>
        </p:nvSpPr>
        <p:spPr>
          <a:xfrm>
            <a:off x="360000" y="5400000"/>
            <a:ext cx="287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de-DE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5400000"/>
            <a:ext cx="10079280" cy="269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0" y="0"/>
            <a:ext cx="10079280" cy="1214280"/>
          </a:xfrm>
          <a:prstGeom prst="rect">
            <a:avLst/>
          </a:prstGeom>
          <a:solidFill>
            <a:srgbClr val="2c3e50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9315000" y="5175000"/>
            <a:ext cx="449280" cy="449280"/>
          </a:xfrm>
          <a:prstGeom prst="ellipse">
            <a:avLst/>
          </a:prstGeom>
          <a:solidFill>
            <a:srgbClr val="1abc9c"/>
          </a:solidFill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de-DE" sz="1800" strike="noStrike" u="none">
              <a:solidFill>
                <a:srgbClr val="2c3e50"/>
              </a:solidFill>
              <a:uFillTx/>
              <a:latin typeface="Source Sans Pro"/>
              <a:ea typeface="DejaVu Sans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de-DE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22"/>
          </p:nvPr>
        </p:nvSpPr>
        <p:spPr>
          <a:xfrm>
            <a:off x="3420000" y="5400000"/>
            <a:ext cx="323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&lt;footer&gt;</a:t>
            </a:r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23"/>
          </p:nvPr>
        </p:nvSpPr>
        <p:spPr>
          <a:xfrm>
            <a:off x="9180000" y="5175000"/>
            <a:ext cx="719280" cy="44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de-DE" sz="1800" strike="noStrike" u="none">
                <a:solidFill>
                  <a:srgbClr val="ffffff"/>
                </a:solidFill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0A131C3-79E7-4E63-85BF-9130EA9B9A01}" type="slidenum">
              <a:rPr b="1" lang="de-DE" sz="1800" strike="noStrike" u="none">
                <a:solidFill>
                  <a:srgbClr val="ffffff"/>
                </a:solidFill>
                <a:uFillTx/>
                <a:latin typeface="Source Sans Pro Black"/>
              </a:rPr>
              <a:t>&lt;number&gt;</a:t>
            </a:fld>
            <a:endParaRPr b="0" lang="de-DE" sz="18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dt" idx="24"/>
          </p:nvPr>
        </p:nvSpPr>
        <p:spPr>
          <a:xfrm>
            <a:off x="360000" y="5400000"/>
            <a:ext cx="2879280" cy="2692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de-DE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  <p:sldLayoutId id="2147483664" r:id="rId3"/>
    <p:sldLayoutId id="214748366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www.impfen-info.de/wissenswertes/impfsystem-in-deutschland/" TargetMode="External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60000" y="2492280"/>
            <a:ext cx="9359280" cy="140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de-DE" sz="2700" strike="noStrike" u="none">
                <a:solidFill>
                  <a:srgbClr val="ffffff"/>
                </a:solidFill>
                <a:uFillTx/>
                <a:latin typeface="Source Sans Pro Black"/>
              </a:rPr>
              <a:t>Sollten nicht geimpfte Personen vom bestimmten öffentlichem Plätzen ausgeschlossen werden?</a:t>
            </a:r>
            <a:endParaRPr b="0" lang="de-DE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360000" y="3915000"/>
            <a:ext cx="9359280" cy="14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de-DE" sz="2200" strike="noStrike" u="none">
                <a:solidFill>
                  <a:srgbClr val="ffffff"/>
                </a:solidFill>
                <a:uFillTx/>
                <a:latin typeface="Source Sans Pro"/>
              </a:rPr>
              <a:t>Von Johann Specht</a:t>
            </a:r>
            <a:endParaRPr b="0" lang="de-DE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2700" strike="noStrike" u="none">
                <a:solidFill>
                  <a:srgbClr val="ffffff"/>
                </a:solidFill>
                <a:uFillTx/>
                <a:latin typeface="Source Sans Pro Black"/>
              </a:rPr>
              <a:t>Inhalt</a:t>
            </a:r>
            <a:endParaRPr b="0" lang="de-DE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Konkretisierung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Vorschriften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Ethische Prinzipien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Bibel Bezug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Urteil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4FCB830-5B3A-4287-8A9B-DB71605F4F2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2700" strike="noStrike" u="none">
                <a:solidFill>
                  <a:srgbClr val="ffffff"/>
                </a:solidFill>
                <a:uFillTx/>
                <a:latin typeface="Source Sans Pro Black"/>
              </a:rPr>
              <a:t>Konkretisierung der Fragestellung</a:t>
            </a:r>
            <a:endParaRPr b="0" lang="de-DE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Öffentliche Plätze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de-DE" sz="2100" strike="noStrike" u="none">
                <a:solidFill>
                  <a:srgbClr val="2c3e50"/>
                </a:solidFill>
                <a:uFillTx/>
                <a:latin typeface="Source Sans Pro"/>
              </a:rPr>
              <a:t>Bibliotheken, Kitas, Schulen, Schwimmbad</a:t>
            </a:r>
            <a:endParaRPr b="0" lang="de-DE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Impfungen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de-DE" sz="2100" strike="noStrike" u="none">
                <a:solidFill>
                  <a:srgbClr val="2c3e50"/>
                </a:solidFill>
                <a:uFillTx/>
                <a:latin typeface="Source Sans Pro"/>
              </a:rPr>
              <a:t>Von der StiKo empholene Impfungen</a:t>
            </a:r>
            <a:endParaRPr b="0" lang="de-DE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15A8B6-CE88-4F2C-9026-805FF710C08C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2700" strike="noStrike" u="none">
                <a:solidFill>
                  <a:srgbClr val="ffffff"/>
                </a:solidFill>
                <a:uFillTx/>
                <a:latin typeface="Source Sans Pro Black"/>
              </a:rPr>
              <a:t>Aktuelle Vorschriften in Deutschland</a:t>
            </a:r>
            <a:endParaRPr b="0" lang="de-DE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Erwachsene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de-DE" sz="2100" strike="noStrike" u="none">
                <a:solidFill>
                  <a:srgbClr val="2c3e50"/>
                </a:solidFill>
                <a:uFillTx/>
                <a:latin typeface="Source Sans Pro"/>
              </a:rPr>
              <a:t>Keine allgemeine Impfpflicht</a:t>
            </a:r>
            <a:endParaRPr b="0" lang="de-DE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Kinder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de-DE" sz="2100" strike="noStrike" u="none">
                <a:solidFill>
                  <a:srgbClr val="2c3e50"/>
                </a:solidFill>
                <a:uFillTx/>
                <a:latin typeface="Source Sans Pro"/>
              </a:rPr>
              <a:t>Masern Impfpflicht für öffentliche Einrichtungen</a:t>
            </a:r>
            <a:endParaRPr b="0" lang="de-DE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3DABA81-6029-493D-9F60-BC1D4DF41F99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2700" strike="noStrike" u="none">
                <a:solidFill>
                  <a:srgbClr val="ffffff"/>
                </a:solidFill>
                <a:uFillTx/>
                <a:latin typeface="Source Sans Pro Black"/>
              </a:rPr>
              <a:t>Ethische Prinzipen</a:t>
            </a:r>
            <a:endParaRPr b="0" lang="de-DE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Utilitarismus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de-DE" sz="2100" strike="noStrike" u="none">
                <a:solidFill>
                  <a:srgbClr val="2c3e50"/>
                </a:solidFill>
                <a:uFillTx/>
                <a:latin typeface="Source Sans Pro"/>
              </a:rPr>
              <a:t>Glück für die größtmögliche Anzahl an Menschen</a:t>
            </a:r>
            <a:endParaRPr b="0" lang="de-DE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Situationsethik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de-DE" sz="2100" strike="noStrike" u="none">
                <a:solidFill>
                  <a:srgbClr val="2c3e50"/>
                </a:solidFill>
                <a:uFillTx/>
                <a:latin typeface="Source Sans Pro"/>
              </a:rPr>
              <a:t>Was ist in dieser Situation das Richtige?</a:t>
            </a:r>
            <a:endParaRPr b="0" lang="de-DE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F741B1-C325-42DB-8481-A9E70AA446B2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2700" strike="noStrike" u="none">
                <a:solidFill>
                  <a:srgbClr val="ffffff"/>
                </a:solidFill>
                <a:uFillTx/>
                <a:latin typeface="Source Sans Pro Black"/>
              </a:rPr>
              <a:t>Stellung der Bibel</a:t>
            </a:r>
            <a:endParaRPr b="0" lang="de-DE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i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 „</a:t>
            </a:r>
            <a:r>
              <a:rPr b="1" i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Denkt dabei nicht an euch selbst, sondern an die anderen!“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100" strike="noStrike" u="none">
                <a:solidFill>
                  <a:srgbClr val="2c3e50"/>
                </a:solidFill>
                <a:uFillTx/>
                <a:latin typeface="Source Sans Pro"/>
              </a:rPr>
              <a:t>1. Korinther 10,24</a:t>
            </a:r>
            <a:endParaRPr b="0" lang="de-DE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i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„</a:t>
            </a:r>
            <a:r>
              <a:rPr b="1" i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Es gibt nicht mehr Juden und Griechen, nicht Sklaven und Freie, nicht männlich und weiblich; denn ihr alle seid einer in Christus Jesus.“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de-DE" sz="2100" strike="noStrike" u="none">
                <a:solidFill>
                  <a:srgbClr val="2c3e50"/>
                </a:solidFill>
                <a:uFillTx/>
                <a:latin typeface="Source Sans Pro"/>
              </a:rPr>
              <a:t>Galater 3,28</a:t>
            </a:r>
            <a:endParaRPr b="0" lang="de-DE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5E32633-145F-4299-A554-99F297104C2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2700" strike="noStrike" u="none">
                <a:solidFill>
                  <a:srgbClr val="ffffff"/>
                </a:solidFill>
                <a:uFillTx/>
                <a:latin typeface="Source Sans Pro Black"/>
              </a:rPr>
              <a:t>Urteil</a:t>
            </a:r>
            <a:endParaRPr b="0" lang="de-DE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Imprinzip eine Impfpflicht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100" strike="noStrike" u="none">
                <a:solidFill>
                  <a:srgbClr val="2c3e50"/>
                </a:solidFill>
                <a:uFillTx/>
                <a:latin typeface="Source Sans Pro"/>
              </a:rPr>
              <a:t>Einschränkung der persönlichen Menschenrechte</a:t>
            </a:r>
            <a:endParaRPr b="0" lang="de-DE" sz="2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Schützt aber andere Menschen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Man kennt nicht die Beweggründe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Schutz der Menschen über Freiheit? </a:t>
            </a:r>
            <a:r>
              <a:rPr b="0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-&gt; </a:t>
            </a:r>
            <a:r>
              <a:rPr b="0" i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Montag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sng">
                <a:solidFill>
                  <a:srgbClr val="2c3e50"/>
                </a:solidFill>
                <a:uFillTx/>
                <a:latin typeface="Source Sans Pro Semibold"/>
              </a:rPr>
              <a:t>Fazit:</a:t>
            </a: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 Gegen eine Einschränkung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FA8742D0-F846-4E30-839A-DE3E70CB2E12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de-DE" sz="2700" strike="noStrike" u="none">
                <a:solidFill>
                  <a:srgbClr val="ffffff"/>
                </a:solidFill>
                <a:uFillTx/>
                <a:latin typeface="Source Sans Pro Black"/>
              </a:rPr>
              <a:t>Quellen</a:t>
            </a:r>
            <a:endParaRPr b="0" lang="de-DE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https://www.bundesgesundheitsministerium.de/themen/praevention/impfungen/schutzimpfungen.html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  <a:hlinkClick r:id="rId1"/>
              </a:rPr>
              <a:t>https://www.impfen-info.de/wissenswertes/impfsystem-in-deutschland/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de-DE" sz="2400" strike="noStrike" u="none">
                <a:solidFill>
                  <a:srgbClr val="2c3e50"/>
                </a:solidFill>
                <a:uFillTx/>
                <a:latin typeface="Source Sans Pro Semibold"/>
              </a:rPr>
              <a:t>Bibelstellen zitiert nach der Einheits übersetzung</a:t>
            </a:r>
            <a:endParaRPr b="0" lang="de-DE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42BD987-7E0A-4DB6-9E43-2F169DF8C8B1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LibreOffice/24.8.3.2$Linux_X86_64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2024-11-17T13:50:34Z</dcterms:created>
  <dc:creator/>
  <dc:description/>
  <dc:language>de-DE</dc:language>
  <cp:lastModifiedBy/>
  <dcterms:modified xsi:type="dcterms:W3CDTF">2024-11-18T18:03:51Z</dcterms:modified>
  <cp:revision>9</cp:revision>
  <dc:subject/>
  <dc:title>Midnightblue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